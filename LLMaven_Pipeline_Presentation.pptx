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hagyashreewagh/llmaven-azure-demo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hagyashreewagh/llmaven-azure-demo/blob/main/research_survey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640080"/>
            <a:ext cx="914400" cy="914400"/>
          </a:xfrm>
          <a:prstGeom prst="ellipse">
            <a:avLst/>
          </a:prstGeom>
          <a:solidFill>
            <a:srgbClr val="64FFDA">
              <a:alpha val="20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LLMaven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 Pipeline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0" y="3108960"/>
            <a:ext cx="2743200" cy="36576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Washington  |  eScience Institute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 |  Azure  |  Pulumi  |  Streamlit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Pipeline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Pull-based batch pipeline  |  runs daily at midnight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737360" cy="1005840"/>
          </a:xfrm>
          <a:prstGeom prst="rect">
            <a:avLst/>
          </a:prstGeom>
          <a:solidFill>
            <a:srgbClr val="1A1F2E"/>
          </a:solidFill>
          <a:ln w="1905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173736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0700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LLMaven Server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+ PostgreSQL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48256" y="1581912"/>
            <a:ext cx="128016" cy="36576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12848" y="1097280"/>
            <a:ext cx="1737360" cy="1005840"/>
          </a:xfrm>
          <a:prstGeom prst="rect">
            <a:avLst/>
          </a:prstGeom>
          <a:solidFill>
            <a:srgbClr val="1A1F2E"/>
          </a:solidFill>
          <a:ln w="19050">
            <a:solidFill>
              <a:srgbClr val="64FF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12848" y="1097280"/>
            <a:ext cx="1737360" cy="54864"/>
          </a:xfrm>
          <a:prstGeom prst="rect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04288" y="120700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04288" y="16276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+ Clean daily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86784" y="1581912"/>
            <a:ext cx="128016" cy="36576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51376" y="1097280"/>
            <a:ext cx="1737360" cy="1005840"/>
          </a:xfrm>
          <a:prstGeom prst="rect">
            <a:avLst/>
          </a:prstGeom>
          <a:solidFill>
            <a:srgbClr val="1A1F2E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51376" y="1097280"/>
            <a:ext cx="173736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42816" y="120700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Lake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42816" y="16276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JSONL + Parquet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25312" y="1581912"/>
            <a:ext cx="128016" cy="36576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9904" y="1097280"/>
            <a:ext cx="1737360" cy="1005840"/>
          </a:xfrm>
          <a:prstGeom prst="rect">
            <a:avLst/>
          </a:prstGeom>
          <a:solidFill>
            <a:srgbClr val="1A1F2E"/>
          </a:solidFill>
          <a:ln w="19050">
            <a:solidFill>
              <a:srgbClr val="FF6B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9904" y="1097280"/>
            <a:ext cx="1737360" cy="54864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1344" y="120700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81344" y="16276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377440"/>
            <a:ext cx="1965960" cy="1188720"/>
          </a:xfrm>
          <a:prstGeom prst="rect">
            <a:avLst/>
          </a:prstGeom>
          <a:solidFill>
            <a:srgbClr val="12172A"/>
          </a:solidFill>
          <a:ln w="9525">
            <a:solidFill>
              <a:srgbClr val="2D35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4688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Pulumi IaC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2724912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Azure resources defined as Python code. One command to deploy everything.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304288" y="2377440"/>
            <a:ext cx="1965960" cy="1188720"/>
          </a:xfrm>
          <a:prstGeom prst="rect">
            <a:avLst/>
          </a:prstGeom>
          <a:solidFill>
            <a:srgbClr val="12172A"/>
          </a:solidFill>
          <a:ln w="9525">
            <a:solidFill>
              <a:srgbClr val="2D35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95728" y="24688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ADLS Gen2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395728" y="2724912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data lake. ~$0.018/GB/month. Partitioned by date for fast queries.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34256" y="2377440"/>
            <a:ext cx="1965960" cy="1188720"/>
          </a:xfrm>
          <a:prstGeom prst="rect">
            <a:avLst/>
          </a:prstGeom>
          <a:solidFill>
            <a:srgbClr val="12172A"/>
          </a:solidFill>
          <a:ln w="9525">
            <a:solidFill>
              <a:srgbClr val="2D35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25696" y="24688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Format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25696" y="2724912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smaller than CSV. 10x faster to query. Columnar compression.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64224" y="2377440"/>
            <a:ext cx="1965960" cy="1188720"/>
          </a:xfrm>
          <a:prstGeom prst="rect">
            <a:avLst/>
          </a:prstGeom>
          <a:solidFill>
            <a:srgbClr val="12172A"/>
          </a:solidFill>
          <a:ln w="9525">
            <a:solidFill>
              <a:srgbClr val="2D35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55664" y="24688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55664" y="2724912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zero when idle. ~$2-5/month. Public shareable URL.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0" y="3794760"/>
            <a:ext cx="2743200" cy="457200"/>
          </a:xfrm>
          <a:prstGeom prst="rect">
            <a:avLst/>
          </a:prstGeom>
          <a:solidFill>
            <a:srgbClr val="1A1F2E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0" y="3794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 cost: ~$2-5 / month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Streamlit + Plotly  |  Hosted on Azure Container Apps</a:t>
            </a:r>
            <a:endParaRPr lang="en-US" sz="1100" dirty="0"/>
          </a:p>
        </p:txBody>
      </p:sp>
      <p:pic>
        <p:nvPicPr>
          <p:cNvPr id="5" name="Image 0" descr="/Users/a91885/Desktop/llmaven-azure-demo/dashboard_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96112"/>
            <a:ext cx="8595360" cy="384048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74320" y="4663440"/>
            <a:ext cx="4114800" cy="347472"/>
          </a:xfrm>
          <a:prstGeom prst="rect">
            <a:avLst/>
          </a:prstGeom>
          <a:solidFill>
            <a:srgbClr val="1A1F2E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663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http://localhost:8501   (Azure: coming soon)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480560" y="45720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D6F6"/>
                </a:solidFill>
              </a:rPr>
              <a:t>Model usage breakdown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D6F6"/>
                </a:solidFill>
              </a:rPr>
              <a:t>Daily cost over time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D6F6"/>
                </a:solidFill>
              </a:rPr>
              <a:t>Token distribution (input vs output)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D6F6"/>
                </a:solidFill>
              </a:rPr>
              <a:t>Turns per session histogram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D6F6"/>
                </a:solidFill>
              </a:rPr>
              <a:t>Source filter (isolate coding activity)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D6F6"/>
                </a:solidFill>
              </a:rPr>
              <a:t>Top users by spend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475488"/>
          </a:xfrm>
          <a:prstGeom prst="rect">
            <a:avLst/>
          </a:prstGeom>
          <a:solidFill>
            <a:srgbClr val="1A1F2E"/>
          </a:solidFill>
          <a:ln w="19050">
            <a:solidFill>
              <a:srgbClr val="7B61FF"/>
            </a:solidFill>
            <a:prstDash val="solid"/>
          </a:ln>
        </p:spPr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457200" y="7498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github.com/bhagyashreewagh/llmaven-azure-demo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3931920" cy="713232"/>
          </a:xfrm>
          <a:prstGeom prst="rect">
            <a:avLst/>
          </a:prstGeom>
          <a:solidFill>
            <a:srgbClr val="12172A"/>
          </a:solidFill>
          <a:ln w="9525">
            <a:solidFill>
              <a:srgbClr val="64FF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71600"/>
            <a:ext cx="54864" cy="713232"/>
          </a:xfrm>
          <a:prstGeom prst="rect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264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pulumi/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Pulumi Python IaC - all Azure resources in one file. Run 'pulumi up' to deploy.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80560" y="1371600"/>
            <a:ext cx="3931920" cy="713232"/>
          </a:xfrm>
          <a:prstGeom prst="rect">
            <a:avLst/>
          </a:prstGeom>
          <a:solidFill>
            <a:srgbClr val="12172A"/>
          </a:solidFill>
          <a:ln w="9525">
            <a:solidFill>
              <a:srgbClr val="FFD1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371600"/>
            <a:ext cx="54864" cy="7132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4264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function_app/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16642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 - daily timer trigger. Extracts JSONL, cleans to Parquet, uploads to Data Lake.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3931920" cy="713232"/>
          </a:xfrm>
          <a:prstGeom prst="rect">
            <a:avLst/>
          </a:prstGeom>
          <a:solidFill>
            <a:srgbClr val="12172A"/>
          </a:solidFill>
          <a:ln w="9525">
            <a:solidFill>
              <a:srgbClr val="FF6B9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194560"/>
            <a:ext cx="54864" cy="71323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4942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dashboard/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4871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+ Dockerfile. Charts for model usage, cost, tokens, sessions, source breakdown.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80560" y="2194560"/>
            <a:ext cx="3931920" cy="713232"/>
          </a:xfrm>
          <a:prstGeom prst="rect">
            <a:avLst/>
          </a:prstGeom>
          <a:solidFill>
            <a:srgbClr val="12172A"/>
          </a:solidFill>
          <a:ln w="9525">
            <a:solidFill>
              <a:srgbClr val="7B61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0" y="2194560"/>
            <a:ext cx="54864" cy="71323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224942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azure_pipeline_resources.md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7720" y="24871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resource comparison guide with cost estimates per GB for every Azure service considered.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017520"/>
            <a:ext cx="3931920" cy="713232"/>
          </a:xfrm>
          <a:prstGeom prst="rect">
            <a:avLst/>
          </a:prstGeom>
          <a:solidFill>
            <a:srgbClr val="12172A"/>
          </a:solidFill>
          <a:ln w="9525">
            <a:solidFill>
              <a:srgbClr val="8892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017520"/>
            <a:ext cx="54864" cy="713232"/>
          </a:xfrm>
          <a:prstGeom prst="rect">
            <a:avLst/>
          </a:prstGeom>
          <a:solidFill>
            <a:srgbClr val="8892B0"/>
          </a:solidFill>
          <a:ln w="12700">
            <a:solidFill>
              <a:srgbClr val="8892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0723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research_survey.md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3101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researcher survey to understand how teams use AI coding assistants.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we want to learn from the data?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234440"/>
          </a:xfrm>
          <a:prstGeom prst="rect">
            <a:avLst/>
          </a:prstGeom>
          <a:solidFill>
            <a:srgbClr val="1A1F2E"/>
          </a:solidFill>
          <a:ln w="1524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64008" cy="12344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1024128"/>
            <a:ext cx="1188720" cy="347472"/>
          </a:xfrm>
          <a:prstGeom prst="roundRect">
            <a:avLst>
              <a:gd name="adj" fmla="val 26316"/>
            </a:avLst>
          </a:prstGeom>
          <a:solidFill>
            <a:srgbClr val="FFD166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1444752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64FFDA">
              <a:alpha val="70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0" y="1865376"/>
            <a:ext cx="1097280" cy="256032"/>
          </a:xfrm>
          <a:prstGeom prst="roundRect">
            <a:avLst>
              <a:gd name="adj" fmla="val 35714"/>
            </a:avLst>
          </a:prstGeom>
          <a:solidFill>
            <a:srgbClr val="FFD166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05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00584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are conversations? Do they vary by researcher type?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141732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RSE conversations longer and more iterative than student conversations? Do certain research domains produce deeper sessions? Understanding session depth helps us tailor onboarding and training by role.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304288"/>
            <a:ext cx="8412480" cy="1234440"/>
          </a:xfrm>
          <a:prstGeom prst="rect">
            <a:avLst/>
          </a:prstGeom>
          <a:solidFill>
            <a:srgbClr val="1A1F2E"/>
          </a:solidFill>
          <a:ln w="1524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04288"/>
            <a:ext cx="64008" cy="12344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2377440"/>
            <a:ext cx="1371600" cy="256032"/>
          </a:xfrm>
          <a:prstGeom prst="rect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2377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680960" y="2743200"/>
            <a:ext cx="822960" cy="201168"/>
          </a:xfrm>
          <a:prstGeom prst="rect">
            <a:avLst/>
          </a:prstGeom>
          <a:solidFill>
            <a:srgbClr val="64FFDA">
              <a:alpha val="80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27432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out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350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2350008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vs Code Ratio -- Is the interaction efficient?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360" y="2761488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10,000 tokens go in as context and prompting, but only 50 tokens of real code come out -- is that efficient? What is the ratio of useful output to input effort, and how does it vary by task type?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8412480" cy="987552"/>
          </a:xfrm>
          <a:prstGeom prst="rect">
            <a:avLst/>
          </a:prstGeom>
          <a:solidFill>
            <a:srgbClr val="1A1F2E"/>
          </a:solidFill>
          <a:ln w="15240">
            <a:solidFill>
              <a:srgbClr val="FF6B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657600"/>
            <a:ext cx="64008" cy="9875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703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370332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RSE-Plugin skills get triggered most? How much rework follows?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4360" y="40690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/research, /plan, /implement, /validate usage frequency and follow-up iteration rate as a quasi-evaluation of skill effectiveness in a given research context.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Survey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building more features -- understand what researchers actually want answered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23360" cy="1298448"/>
          </a:xfrm>
          <a:prstGeom prst="rect">
            <a:avLst/>
          </a:prstGeom>
          <a:solidFill>
            <a:srgbClr val="1A1F2E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023360" cy="54864"/>
          </a:xfrm>
          <a:prstGeom prst="rect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51560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You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34416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D6F6"/>
                </a:solidFill>
              </a:rPr>
              <a:t>Role (RSE, grad student, faculty...)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D6F6"/>
                </a:solidFill>
              </a:rPr>
              <a:t>Experience with AI coding tools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D6F6"/>
                </a:solidFill>
              </a:rPr>
              <a:t>Frequency of use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023360" cy="1298448"/>
          </a:xfrm>
          <a:prstGeom prst="rect">
            <a:avLst/>
          </a:prstGeom>
          <a:solidFill>
            <a:srgbClr val="1A1F2E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960120"/>
            <a:ext cx="402336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051560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Use 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73168" y="134416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D6F6"/>
                </a:solidFill>
              </a:rPr>
              <a:t>Main use cases (debugging, writing, docs...)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D6F6"/>
                </a:solidFill>
              </a:rPr>
              <a:t>Typical conversation style (1-turn vs iterative)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D6F6"/>
                </a:solidFill>
              </a:rPr>
              <a:t>How often you rework the output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4023360" cy="1298448"/>
          </a:xfrm>
          <a:prstGeom prst="rect">
            <a:avLst/>
          </a:prstGeom>
          <a:solidFill>
            <a:srgbClr val="1A1F2E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423160"/>
            <a:ext cx="4023360" cy="54864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514600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" y="280720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D6F6"/>
                </a:solidFill>
              </a:rPr>
              <a:t>Confidence in writing prompts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D6F6"/>
                </a:solidFill>
              </a:rPr>
              <a:t>Have you asked the same thing 5 different ways?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D6F6"/>
                </a:solidFill>
              </a:rPr>
              <a:t>What would help you prompt better?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423160"/>
            <a:ext cx="4023360" cy="1298448"/>
          </a:xfrm>
          <a:prstGeom prst="rect">
            <a:avLst/>
          </a:prstGeom>
          <a:solidFill>
            <a:srgbClr val="1A1F2E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423160"/>
            <a:ext cx="4023360" cy="54864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514600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Help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73168" y="280720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D6F6"/>
                </a:solidFill>
              </a:rPr>
              <a:t>Rank: guides, workshops, community, plugins...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D6F6"/>
                </a:solidFill>
              </a:rPr>
              <a:t>Where AI gets it wrong for your work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D6F6"/>
                </a:solidFill>
              </a:rPr>
              <a:t>One thing you wish AI could do better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950208"/>
            <a:ext cx="8412480" cy="530352"/>
          </a:xfrm>
          <a:prstGeom prst="rect">
            <a:avLst/>
          </a:prstGeom>
          <a:solidFill>
            <a:srgbClr val="12172A"/>
          </a:solidFill>
          <a:ln w="19050">
            <a:solidFill>
              <a:srgbClr val="64FFDA"/>
            </a:solidFill>
            <a:prstDash val="solid"/>
          </a:ln>
        </p:spPr>
      </p:sp>
      <p:sp>
        <p:nvSpPr>
          <p:cNvPr id="22" name="Text 20">
            <a:hlinkClick r:id="rId1" tooltip=""/>
          </p:cNvPr>
          <p:cNvSpPr/>
          <p:nvPr/>
        </p:nvSpPr>
        <p:spPr>
          <a:xfrm>
            <a:off x="457200" y="39502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Full survey: github.com/bhagyashreewagh/llmaven-azure-demo/blob/main/research_survey.md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to complete  |  No right or wrong answers  |  Fully anonymous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Goal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1371600"/>
          </a:xfrm>
          <a:prstGeom prst="rect">
            <a:avLst/>
          </a:prstGeom>
          <a:solidFill>
            <a:srgbClr val="1A1F2E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77240"/>
            <a:ext cx="73152" cy="137160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8686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 we teach researchers GitHub and CI/CD -- we want to teach effective AI use.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partner with researchers to show how to use AI coding assistants correctly and effectively?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2606040" cy="2286000"/>
          </a:xfrm>
          <a:prstGeom prst="rect">
            <a:avLst/>
          </a:prstGeom>
          <a:solidFill>
            <a:srgbClr val="1A1F2E"/>
          </a:solidFill>
          <a:ln w="15240">
            <a:solidFill>
              <a:srgbClr val="64FF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77440"/>
            <a:ext cx="2606040" cy="64008"/>
          </a:xfrm>
          <a:prstGeom prst="rect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94460" y="2487168"/>
            <a:ext cx="548640" cy="548640"/>
          </a:xfrm>
          <a:prstGeom prst="ellipse">
            <a:avLst/>
          </a:prstGeom>
          <a:solidFill>
            <a:srgbClr val="64FFDA">
              <a:alpha val="80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94460" y="2487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" y="315468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the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5661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LLMaven logs to understand usage patterns, session depth, model preferences, and where researchers struggle.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72968" y="2377440"/>
            <a:ext cx="2606040" cy="2286000"/>
          </a:xfrm>
          <a:prstGeom prst="rect">
            <a:avLst/>
          </a:prstGeom>
          <a:solidFill>
            <a:srgbClr val="1A1F2E"/>
          </a:solidFill>
          <a:ln w="1524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2377440"/>
            <a:ext cx="260604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1668" y="2487168"/>
            <a:ext cx="548640" cy="548640"/>
          </a:xfrm>
          <a:prstGeom prst="ellipse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1668" y="2487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82696" y="315468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Better Tools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10128" y="35661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RSE-Plugins, custom skills, and domain-specific agents that help researchers work more effectively with AI.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0176" y="2377440"/>
            <a:ext cx="2606040" cy="2286000"/>
          </a:xfrm>
          <a:prstGeom prst="rect">
            <a:avLst/>
          </a:prstGeom>
          <a:solidFill>
            <a:srgbClr val="1A1F2E"/>
          </a:solidFill>
          <a:ln w="1524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80176" y="2377440"/>
            <a:ext cx="2606040" cy="6400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08876" y="2487168"/>
            <a:ext cx="548640" cy="548640"/>
          </a:xfrm>
          <a:prstGeom prst="ellipse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08876" y="2487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089904" y="315468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and Scale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17336" y="35661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researchers how to prompt effectively, just as we teach version control, testing, and reproducibility.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Next Step: Push-Based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scheduled pull with a real-time LiteLLM callback -- data arrives within seconds, not 24 hours later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840480" cy="347472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(Pull)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36576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LLMaven logs to PostgreSQL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1874520"/>
            <a:ext cx="36576" cy="155448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029968"/>
            <a:ext cx="36576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299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 wakes up nightly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3120" y="2532888"/>
            <a:ext cx="36576" cy="155448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688336"/>
            <a:ext cx="36576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8833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yesterdays data via extract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03120" y="3191256"/>
            <a:ext cx="36576" cy="155448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346704"/>
            <a:ext cx="36576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4670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to Data Lake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3474720" cy="347472"/>
          </a:xfrm>
          <a:prstGeom prst="rect">
            <a:avLst/>
          </a:prstGeom>
          <a:solidFill>
            <a:srgbClr val="3D151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148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24 hour data delay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914400"/>
            <a:ext cx="3840480" cy="347472"/>
          </a:xfrm>
          <a:prstGeom prst="rect">
            <a:avLst/>
          </a:prstGeom>
          <a:solidFill>
            <a:srgbClr val="64FFDA">
              <a:alpha val="20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914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(Push Callback)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20640" y="1371600"/>
            <a:ext cx="36576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13716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 processed by LiteLLM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03720" y="1874520"/>
            <a:ext cx="36576" cy="155448"/>
          </a:xfrm>
          <a:prstGeom prst="rect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029968"/>
            <a:ext cx="3657600" cy="502920"/>
          </a:xfrm>
          <a:prstGeom prst="rect">
            <a:avLst/>
          </a:prstGeom>
          <a:solidFill>
            <a:srgbClr val="1A1F2E"/>
          </a:solidFill>
          <a:ln w="19050">
            <a:solidFill>
              <a:srgbClr val="64FF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20299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fires Python callback instantly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03720" y="2532888"/>
            <a:ext cx="36576" cy="155448"/>
          </a:xfrm>
          <a:prstGeom prst="rect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20640" y="2688336"/>
            <a:ext cx="3657600" cy="502920"/>
          </a:xfrm>
          <a:prstGeom prst="rect">
            <a:avLst/>
          </a:prstGeom>
          <a:solidFill>
            <a:srgbClr val="1A1F2E"/>
          </a:solidFill>
          <a:ln w="19050">
            <a:solidFill>
              <a:srgbClr val="64FF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268833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pushes JSON to Azure endpoint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03720" y="3191256"/>
            <a:ext cx="36576" cy="155448"/>
          </a:xfrm>
          <a:prstGeom prst="rect">
            <a:avLst/>
          </a:prstGeom>
          <a:solidFill>
            <a:srgbClr val="64FFDA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0640" y="3346704"/>
            <a:ext cx="3657600" cy="502920"/>
          </a:xfrm>
          <a:prstGeom prst="rect">
            <a:avLst/>
          </a:prstGeom>
          <a:solidFill>
            <a:srgbClr val="1A1F2E"/>
          </a:solidFill>
          <a:ln w="19050">
            <a:solidFill>
              <a:srgbClr val="64FF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334670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lake within seconds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212080" y="4114800"/>
            <a:ext cx="3474720" cy="347472"/>
          </a:xfrm>
          <a:prstGeom prst="rect">
            <a:avLst/>
          </a:prstGeom>
          <a:solidFill>
            <a:srgbClr val="0D2B22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41148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-- seconds not hours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892B0"/>
                </a:solidFill>
              </a:rPr>
              <a:t>No scheduled jobs to maintain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892B0"/>
                </a:solidFill>
              </a:rPr>
              <a:t>Always up to date -- no 24hr lag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892B0"/>
                </a:solidFill>
              </a:rPr>
              <a:t>One less moving part (no Azure Function)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892B0"/>
                </a:solidFill>
              </a:rPr>
              <a:t>Requires LLMaven admin to point callback at our Azure endpoint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LLMaven AI Usage Pipeline</dc:title>
  <dc:subject>PptxGenJS Presentation</dc:subject>
  <dc:creator>PptxGenJS</dc:creator>
  <cp:lastModifiedBy>PptxGenJS</cp:lastModifiedBy>
  <cp:revision>1</cp:revision>
  <dcterms:created xsi:type="dcterms:W3CDTF">2026-04-20T18:02:25Z</dcterms:created>
  <dcterms:modified xsi:type="dcterms:W3CDTF">2026-04-20T18:02:25Z</dcterms:modified>
</cp:coreProperties>
</file>